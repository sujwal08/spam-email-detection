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morning/afternoon, instructor and colleagues. Welcome to my DCS 404 Final Project presentation: 'Machine Learning and Transformer-Based Spam Message Detection'. Following my professor's feedback, this updated project incorporates class imbalance remediation via SMOTE, strict anti-data leakage pipelines, fine-tuned transformer architectures (DistilBERT and DistilRoBERTa), exploratory word clouds, and a complete 7-section Streamlit deployment.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first major learning connects directly to Weeks 1 through 3: Data preparation, feature engineering, and avoiding data leakage. In natural messaging corpora, spam is heavily outnumbered—here representing only 12.6% of messages. Crucially, we avoided data leakage by fitting TF-IDF only on training data and applying SMOTE exclusively to the training set. Our test set remained 100% authentic with 903 ham and 131 spam messages, preserving real-world validity.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 the professor's feedback, we integrated Spam and Ham Word Clouds into our exploratory data analysis. Spam messages are packed with urgency and financial triggers like FREE, claim, win, cash, and urgent. In contrast, legitimate ham messages reflect natural social discourse—words like 'come', 'good', 'time', and 'home'. Furthermore, message length analysis shows spam messages average nearly double the character length of legitimate messages.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Weeks 4 and 5, we studied supervised classification. Logistic Regression serves as our main SMOTE-based model. SMOTE dramatically improved Logistic Regression's recall from 78.6% to 90.08%, cutting missed spam messages in half. However, we also analyzed why SMOTE does not pair well with Multinomial Naive Bayes: synthetic interpolation distorts discrete token likelihoods. Standard Naive Bayes achieved 98.26% precision with only 2 false positives out of 903 legitimate messages.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response to the professor's requirement to add deep learning, we fine-tuned two state-of-the-art transformer models: DistilBERT and DistilRoBERTa. Unlike TF-IDF, transformers evaluate words in full bidirectional context. We chose distilled versions to keep memory footprint and training time realistic while maintaining near-perfect discrimination. Both transformer models achieved exceptional ROC-AUC scores exceeding 0.997.</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presents our empirical benchmark across all four models on the held-out test set of 1,034 samples. DistilBERT and DistilRoBERTa tied for the highest accuracy at 98.84%, with DistilBERT achieving an outstanding 95.42% F1 score. DistilRoBERTa achieved 97.60% precision with just 3 false positives. Meanwhile, Multinomial Naive Bayes held an exceptional 98.26% precision with only 2 false positives, and Logistic Regression with SMOTE caught 90.08% of all spam.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central requirement of the professor's update was comparing the trade-offs between traditional ML and transformer models. We must not simply declare one model 'the winner'. While transformers yield higher F1 scores, traditional ML trains 50,000 times faster and runs inference 90,000 times faster. In a live telecommunications gateway processing millions of SMS messages per second, traditional ML is drastically more cost-effective. For high-risk corporate email or fraud investigations, the contextual accuracy of transformers is well worth the extra latency.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we packaged the entire system into a production-grade Streamlit web dashboard structured into 7 distinct sections. In our live tests, suspicious messages with prize and urgency claims trigger SPAM predictions with over 99.9% confidence. Legitimate conversational messages are cleanly identified as HAM with 99.8% confidence. We also addressed ethics and data privacy by ensuring zero persistent message storage during inference. Thank you for your time, and I welcome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71600"/>
            <a:ext cx="10332720" cy="4114800"/>
          </a:xfrm>
          <a:prstGeom prst="rect">
            <a:avLst/>
          </a:prstGeom>
          <a:noFill/>
        </p:spPr>
        <p:txBody>
          <a:bodyPr wrap="square">
            <a:spAutoFit/>
          </a:bodyPr>
          <a:lstStyle/>
          <a:p>
            <a:pPr>
              <a:defRPr sz="1400" b="1">
                <a:solidFill>
                  <a:srgbClr val="93C5FD"/>
                </a:solidFill>
              </a:defRPr>
            </a:pPr>
            <a:r>
              <a:t>WESTCLIFF UNIVERSITY | DCS 404 FINAL PROJECT</a:t>
            </a:r>
          </a:p>
          <a:p>
            <a:pPr>
              <a:spcBef>
                <a:spcPts val="1400"/>
              </a:spcBef>
              <a:defRPr sz="3400" b="1">
                <a:solidFill>
                  <a:srgbClr val="FFFFFF"/>
                </a:solidFill>
              </a:defRPr>
            </a:pPr>
            <a:r>
              <a:t>Machine Learning &amp; Transformer-Based Spam Message Detection</a:t>
            </a:r>
          </a:p>
          <a:p>
            <a:pPr>
              <a:spcBef>
                <a:spcPts val="1200"/>
              </a:spcBef>
              <a:defRPr sz="1800">
                <a:solidFill>
                  <a:srgbClr val="E2E8F0"/>
                </a:solidFill>
              </a:defRPr>
            </a:pPr>
            <a:r>
              <a:t>End-to-End NLP Pipeline: SMOTE Imbalance Remediation, Traditional ML &amp; Transformers</a:t>
            </a:r>
          </a:p>
          <a:p>
            <a:pPr>
              <a:spcBef>
                <a:spcPts val="2800"/>
              </a:spcBef>
              <a:defRPr sz="1400">
                <a:solidFill>
                  <a:srgbClr val="BFDBFE"/>
                </a:solidFill>
              </a:defRPr>
            </a:pPr>
            <a:r>
              <a:t>Presenter: Sujal  |  Course: DCS 404 - Artificial Intelligence &amp; Machine Learning  |  Fall 2026</a:t>
            </a:r>
          </a:p>
          <a:p>
            <a:pPr>
              <a:spcBef>
                <a:spcPts val="1400"/>
              </a:spcBef>
              <a:defRPr sz="1300">
                <a:solidFill>
                  <a:srgbClr val="FEF08A"/>
                </a:solidFill>
              </a:defRPr>
            </a:pPr>
            <a:r>
              <a:t>Featuring: TF-IDF • SMOTE • Logistic Regression • Naive Bayes • DistilBERT • DistilRoBERTa • Streamlit UI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100" b="1">
                <a:solidFill>
                  <a:srgbClr val="2563EB"/>
                </a:solidFill>
              </a:defRPr>
            </a:pPr>
            <a:r>
              <a:t>DCS 404: AI &amp; MACHINE LEARNING | FINAL PROJECT</a:t>
            </a:r>
          </a:p>
          <a:p>
            <a:pPr>
              <a:spcBef>
                <a:spcPts val="400"/>
              </a:spcBef>
              <a:defRPr sz="2500" b="1">
                <a:solidFill>
                  <a:srgbClr val="1E3A8A"/>
                </a:solidFill>
              </a:defRPr>
            </a:pPr>
            <a:r>
              <a:t>Key Learning #1: Data Hygiene, Anti-Leakage &amp; SMOTE Balancing</a:t>
            </a:r>
          </a:p>
        </p:txBody>
      </p:sp>
      <p:sp>
        <p:nvSpPr>
          <p:cNvPr id="3" name="TextBox 2"/>
          <p:cNvSpPr txBox="1"/>
          <p:nvPr/>
        </p:nvSpPr>
        <p:spPr>
          <a:xfrm>
            <a:off x="731520" y="1463040"/>
            <a:ext cx="6035040" cy="4846320"/>
          </a:xfrm>
          <a:prstGeom prst="rect">
            <a:avLst/>
          </a:prstGeom>
          <a:noFill/>
        </p:spPr>
        <p:txBody>
          <a:bodyPr wrap="square">
            <a:spAutoFit/>
          </a:bodyPr>
          <a:lstStyle/>
          <a:p>
            <a:pPr>
              <a:spcBef>
                <a:spcPts val="0"/>
              </a:spcBef>
            </a:pPr>
            <a:r>
              <a:rPr b="1" sz="1300">
                <a:solidFill>
                  <a:srgbClr val="0F172A"/>
                </a:solidFill>
              </a:rPr>
              <a:t>Dataset Foundation: </a:t>
            </a:r>
            <a:r>
              <a:rPr sz="1300">
                <a:solidFill>
                  <a:srgbClr val="475569"/>
                </a:solidFill>
              </a:rPr>
              <a:t>UCI SMS Spam Collection corpus containing 5,572 labeled records (ham / spam).</a:t>
            </a:r>
          </a:p>
          <a:p>
            <a:pPr>
              <a:spcBef>
                <a:spcPts val="800"/>
              </a:spcBef>
            </a:pPr>
            <a:r>
              <a:rPr b="1" sz="1300">
                <a:solidFill>
                  <a:srgbClr val="0F172A"/>
                </a:solidFill>
              </a:rPr>
              <a:t>Data Cleaning &amp; Hygiene: </a:t>
            </a:r>
            <a:r>
              <a:rPr sz="1300">
                <a:solidFill>
                  <a:srgbClr val="475569"/>
                </a:solidFill>
              </a:rPr>
              <a:t>Checked missing values (0 nulls). Pruned 403 exact duplicates to yield 5,169 distinct messages (4,516 Ham [87.4%], 653 Spam [12.6%]).</a:t>
            </a:r>
          </a:p>
          <a:p>
            <a:pPr>
              <a:spcBef>
                <a:spcPts val="800"/>
              </a:spcBef>
            </a:pPr>
            <a:r>
              <a:rPr b="1" sz="1300">
                <a:solidFill>
                  <a:srgbClr val="0F172A"/>
                </a:solidFill>
              </a:rPr>
              <a:t>Anti-Data Leakage Protocol: </a:t>
            </a:r>
            <a:r>
              <a:rPr sz="1300">
                <a:solidFill>
                  <a:srgbClr val="475569"/>
                </a:solidFill>
              </a:rPr>
              <a:t>Split dataset strictly first using stratified 80/20 train/test splitting (4,135 train / 1,034 test). The test partition preserves authentic class prevalence.</a:t>
            </a:r>
          </a:p>
          <a:p>
            <a:pPr>
              <a:spcBef>
                <a:spcPts val="800"/>
              </a:spcBef>
            </a:pPr>
            <a:r>
              <a:rPr b="1" sz="1300">
                <a:solidFill>
                  <a:srgbClr val="0F172A"/>
                </a:solidFill>
              </a:rPr>
              <a:t>TF-IDF Vectorization: </a:t>
            </a:r>
            <a:r>
              <a:rPr sz="1300">
                <a:solidFill>
                  <a:srgbClr val="475569"/>
                </a:solidFill>
              </a:rPr>
              <a:t>Fitted TfidfVectorizer (5,000 max features, unigrams + bigrams, English stop words) strictly on training text only before transforming test data.</a:t>
            </a:r>
          </a:p>
          <a:p>
            <a:pPr>
              <a:spcBef>
                <a:spcPts val="800"/>
              </a:spcBef>
            </a:pPr>
            <a:r>
              <a:rPr b="1" sz="1300">
                <a:solidFill>
                  <a:srgbClr val="0F172A"/>
                </a:solidFill>
              </a:rPr>
              <a:t>SMOTE Applied Only to Train: </a:t>
            </a:r>
            <a:r>
              <a:rPr sz="1300">
                <a:solidFill>
                  <a:srgbClr val="475569"/>
                </a:solidFill>
              </a:rPr>
              <a:t>Applied Synthetic Minority Over-sampling Technique (SMOTE) strictly to training TF-IDF features, balancing 3,613 Ham and 522 Spam to an equal 3,613:3,613 distribution.</a:t>
            </a:r>
          </a:p>
          <a:p>
            <a:pPr>
              <a:spcBef>
                <a:spcPts val="800"/>
              </a:spcBef>
            </a:pPr>
            <a:r>
              <a:rPr b="1" sz="1300">
                <a:solidFill>
                  <a:srgbClr val="0F172A"/>
                </a:solidFill>
              </a:rPr>
              <a:t>Test Set Preservation: </a:t>
            </a:r>
            <a:r>
              <a:rPr sz="1300">
                <a:solidFill>
                  <a:srgbClr val="475569"/>
                </a:solidFill>
              </a:rPr>
              <a:t>The 1,034 test messages were never oversampled or modified, ensuring real-world, unbiased empirical evaluation.</a:t>
            </a:r>
          </a:p>
        </p:txBody>
      </p:sp>
      <p:pic>
        <p:nvPicPr>
          <p:cNvPr id="4" name="Picture 3" descr="smote_class_distribution.png"/>
          <p:cNvPicPr>
            <a:picLocks noChangeAspect="1"/>
          </p:cNvPicPr>
          <p:nvPr/>
        </p:nvPicPr>
        <p:blipFill>
          <a:blip r:embed="rId2"/>
          <a:stretch>
            <a:fillRect/>
          </a:stretch>
        </p:blipFill>
        <p:spPr>
          <a:xfrm>
            <a:off x="6949440" y="1554480"/>
            <a:ext cx="4572000" cy="1995055"/>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100" b="1">
                <a:solidFill>
                  <a:srgbClr val="2563EB"/>
                </a:solidFill>
              </a:defRPr>
            </a:pPr>
            <a:r>
              <a:t>DCS 404: AI &amp; MACHINE LEARNING | FINAL PROJECT</a:t>
            </a:r>
          </a:p>
          <a:p>
            <a:pPr>
              <a:spcBef>
                <a:spcPts val="400"/>
              </a:spcBef>
              <a:defRPr sz="2500" b="1">
                <a:solidFill>
                  <a:srgbClr val="1E3A8A"/>
                </a:solidFill>
              </a:defRPr>
            </a:pPr>
            <a:r>
              <a:t>Exploratory Data Analysis: Lexical Patterns &amp; Word Clouds</a:t>
            </a:r>
          </a:p>
        </p:txBody>
      </p:sp>
      <p:sp>
        <p:nvSpPr>
          <p:cNvPr id="3" name="TextBox 2"/>
          <p:cNvSpPr txBox="1"/>
          <p:nvPr/>
        </p:nvSpPr>
        <p:spPr>
          <a:xfrm>
            <a:off x="731520" y="1463040"/>
            <a:ext cx="5486400" cy="4846320"/>
          </a:xfrm>
          <a:prstGeom prst="rect">
            <a:avLst/>
          </a:prstGeom>
          <a:noFill/>
        </p:spPr>
        <p:txBody>
          <a:bodyPr wrap="square">
            <a:spAutoFit/>
          </a:bodyPr>
          <a:lstStyle/>
          <a:p>
            <a:pPr>
              <a:spcBef>
                <a:spcPts val="0"/>
              </a:spcBef>
            </a:pPr>
            <a:r>
              <a:rPr b="1" sz="1300">
                <a:solidFill>
                  <a:srgbClr val="0F172A"/>
                </a:solidFill>
              </a:rPr>
              <a:t>Lexical Explainability: </a:t>
            </a:r>
            <a:r>
              <a:rPr sz="1300">
                <a:solidFill>
                  <a:srgbClr val="475569"/>
                </a:solidFill>
              </a:rPr>
              <a:t>Word clouds provide immediate visual explainability, revealing distinguishing linguistic characteristics between unsolicited and legitimate messages.</a:t>
            </a:r>
          </a:p>
          <a:p>
            <a:pPr>
              <a:spcBef>
                <a:spcPts val="800"/>
              </a:spcBef>
            </a:pPr>
            <a:r>
              <a:rPr b="1" sz="1300">
                <a:solidFill>
                  <a:srgbClr val="0F172A"/>
                </a:solidFill>
              </a:rPr>
              <a:t>Spam Keyword Triggers: </a:t>
            </a:r>
            <a:r>
              <a:rPr sz="1300">
                <a:solidFill>
                  <a:srgbClr val="475569"/>
                </a:solidFill>
              </a:rPr>
              <a:t>Dominated by commercial incentives, urgent calls-to-action, and prizes: 'FREE', 'call', 'claim', 'prize', 'txt', 'won', 'cash', 'urgent', 'customer', 'reply'.</a:t>
            </a:r>
          </a:p>
          <a:p>
            <a:pPr>
              <a:spcBef>
                <a:spcPts val="800"/>
              </a:spcBef>
            </a:pPr>
            <a:r>
              <a:rPr b="1" sz="1300">
                <a:solidFill>
                  <a:srgbClr val="0F172A"/>
                </a:solidFill>
              </a:rPr>
              <a:t>Ham Conversational Vocabulary: </a:t>
            </a:r>
            <a:r>
              <a:rPr sz="1300">
                <a:solidFill>
                  <a:srgbClr val="475569"/>
                </a:solidFill>
              </a:rPr>
              <a:t>Reflects everyday personal communication, social coordination, and colloquialisms: 'come', 'good', 'time', 'got', 'will', 'day', 'ok', 'home', 'later', 'love'.</a:t>
            </a:r>
          </a:p>
          <a:p>
            <a:pPr>
              <a:spcBef>
                <a:spcPts val="800"/>
              </a:spcBef>
            </a:pPr>
            <a:r>
              <a:rPr b="1" sz="1300">
                <a:solidFill>
                  <a:srgbClr val="0F172A"/>
                </a:solidFill>
              </a:rPr>
              <a:t>Message Length Disparity: </a:t>
            </a:r>
            <a:r>
              <a:rPr sz="1300">
                <a:solidFill>
                  <a:srgbClr val="475569"/>
                </a:solidFill>
              </a:rPr>
              <a:t>Spam messages average 138.8 characters (median 149), constrained near the 160 SMS limit due to disclaimers. Ham messages average 71.0 characters (median 52).</a:t>
            </a:r>
          </a:p>
          <a:p>
            <a:pPr>
              <a:spcBef>
                <a:spcPts val="800"/>
              </a:spcBef>
            </a:pPr>
            <a:r>
              <a:rPr b="1" sz="1300">
                <a:solidFill>
                  <a:srgbClr val="0F172A"/>
                </a:solidFill>
              </a:rPr>
              <a:t>Engineering Takeaway: </a:t>
            </a:r>
            <a:r>
              <a:rPr sz="1300">
                <a:solidFill>
                  <a:srgbClr val="475569"/>
                </a:solidFill>
              </a:rPr>
              <a:t>Token frequency disparity confirms that TF-IDF n-grams provide strong discriminative power for linear and probabilistic classifiers.</a:t>
            </a:r>
          </a:p>
        </p:txBody>
      </p:sp>
      <p:pic>
        <p:nvPicPr>
          <p:cNvPr id="4" name="Picture 3" descr="spam_wordcloud.png"/>
          <p:cNvPicPr>
            <a:picLocks noChangeAspect="1"/>
          </p:cNvPicPr>
          <p:nvPr/>
        </p:nvPicPr>
        <p:blipFill>
          <a:blip r:embed="rId2"/>
          <a:stretch>
            <a:fillRect/>
          </a:stretch>
        </p:blipFill>
        <p:spPr>
          <a:xfrm>
            <a:off x="6400800" y="1554480"/>
            <a:ext cx="5120640" cy="2560320"/>
          </a:xfrm>
          <a:prstGeom prst="rect">
            <a:avLst/>
          </a:prstGeom>
        </p:spPr>
      </p:pic>
      <p:pic>
        <p:nvPicPr>
          <p:cNvPr id="5" name="Picture 4" descr="ham_wordcloud.png"/>
          <p:cNvPicPr>
            <a:picLocks noChangeAspect="1"/>
          </p:cNvPicPr>
          <p:nvPr/>
        </p:nvPicPr>
        <p:blipFill>
          <a:blip r:embed="rId3"/>
          <a:stretch>
            <a:fillRect/>
          </a:stretch>
        </p:blipFill>
        <p:spPr>
          <a:xfrm>
            <a:off x="6400800" y="3931920"/>
            <a:ext cx="5120640" cy="256032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100" b="1">
                <a:solidFill>
                  <a:srgbClr val="2563EB"/>
                </a:solidFill>
              </a:defRPr>
            </a:pPr>
            <a:r>
              <a:t>DCS 404: AI &amp; MACHINE LEARNING | FINAL PROJECT</a:t>
            </a:r>
          </a:p>
          <a:p>
            <a:pPr>
              <a:spcBef>
                <a:spcPts val="400"/>
              </a:spcBef>
              <a:defRPr sz="2500" b="1">
                <a:solidFill>
                  <a:srgbClr val="1E3A8A"/>
                </a:solidFill>
              </a:defRPr>
            </a:pPr>
            <a:r>
              <a:t>Key Learning #2: Traditional Machine Learning &amp; SMOTE Trade-Offs</a:t>
            </a:r>
          </a:p>
        </p:txBody>
      </p:sp>
      <p:sp>
        <p:nvSpPr>
          <p:cNvPr id="3" name="TextBox 2"/>
          <p:cNvSpPr txBox="1"/>
          <p:nvPr/>
        </p:nvSpPr>
        <p:spPr>
          <a:xfrm>
            <a:off x="731520" y="1463040"/>
            <a:ext cx="5943600" cy="4846320"/>
          </a:xfrm>
          <a:prstGeom prst="rect">
            <a:avLst/>
          </a:prstGeom>
          <a:noFill/>
        </p:spPr>
        <p:txBody>
          <a:bodyPr wrap="square">
            <a:spAutoFit/>
          </a:bodyPr>
          <a:lstStyle/>
          <a:p>
            <a:pPr>
              <a:spcBef>
                <a:spcPts val="0"/>
              </a:spcBef>
            </a:pPr>
            <a:r>
              <a:rPr b="1" sz="1300">
                <a:solidFill>
                  <a:srgbClr val="0F172A"/>
                </a:solidFill>
              </a:rPr>
              <a:t>Logistic Regression (Primary SMOTE Model): </a:t>
            </a:r>
            <a:r>
              <a:rPr sz="1300">
                <a:solidFill>
                  <a:srgbClr val="475569"/>
                </a:solidFill>
              </a:rPr>
              <a:t>Binary log-odds model using sigmoid activation: P(Y=1|X) = 1 / (1 + e^-(beta*X)). Optimized with L2 ridge regularization (C=2.0).</a:t>
            </a:r>
          </a:p>
          <a:p>
            <a:pPr>
              <a:spcBef>
                <a:spcPts val="800"/>
              </a:spcBef>
            </a:pPr>
            <a:r>
              <a:rPr b="1" sz="1300">
                <a:solidFill>
                  <a:srgbClr val="0F172A"/>
                </a:solidFill>
              </a:rPr>
              <a:t>Impact of SMOTE on Logistic Regression: </a:t>
            </a:r>
            <a:r>
              <a:rPr sz="1300">
                <a:solidFill>
                  <a:srgbClr val="475569"/>
                </a:solidFill>
              </a:rPr>
              <a:t>SMOTE synthesis expanded the minority spam decision region, dramatically cutting False Negatives from 28 to 13 and boosting Spam Recall from 78.63% to 90.08%.</a:t>
            </a:r>
          </a:p>
          <a:p>
            <a:pPr>
              <a:spcBef>
                <a:spcPts val="800"/>
              </a:spcBef>
            </a:pPr>
            <a:r>
              <a:rPr b="1" sz="1300">
                <a:solidFill>
                  <a:srgbClr val="0F172A"/>
                </a:solidFill>
              </a:rPr>
              <a:t>Multinomial Naive Bayes Benchmark: </a:t>
            </a:r>
            <a:r>
              <a:rPr sz="1300">
                <a:solidFill>
                  <a:srgbClr val="475569"/>
                </a:solidFill>
              </a:rPr>
              <a:t>Models feature probabilities using Bayes' rule with Laplace smoothing (alpha=0.2). Highly effective for sparse discrete word frequencies.</a:t>
            </a:r>
          </a:p>
          <a:p>
            <a:pPr>
              <a:spcBef>
                <a:spcPts val="800"/>
              </a:spcBef>
            </a:pPr>
            <a:r>
              <a:rPr b="1" sz="1300">
                <a:solidFill>
                  <a:srgbClr val="0F172A"/>
                </a:solidFill>
              </a:rPr>
              <a:t>Why SMOTE Harms Naive Bayes: </a:t>
            </a:r>
            <a:r>
              <a:rPr sz="1300">
                <a:solidFill>
                  <a:srgbClr val="475569"/>
                </a:solidFill>
              </a:rPr>
              <a:t>SMOTE generates continuous fractional features that violate discrete multinomial count assumptions and artificially imposes a 50/50 prior, causing test precision to drop. Standard MNB preserves 98.26% precision.</a:t>
            </a:r>
          </a:p>
          <a:p>
            <a:pPr>
              <a:spcBef>
                <a:spcPts val="800"/>
              </a:spcBef>
            </a:pPr>
            <a:r>
              <a:rPr b="1" sz="1300">
                <a:solidFill>
                  <a:srgbClr val="0F172A"/>
                </a:solidFill>
              </a:rPr>
              <a:t>Pedagogical Insight: </a:t>
            </a:r>
            <a:r>
              <a:rPr sz="1300">
                <a:solidFill>
                  <a:srgbClr val="475569"/>
                </a:solidFill>
              </a:rPr>
              <a:t>Demonstrates that oversampling techniques are not universally beneficial; geometric classifiers (LR) benefit from SMOTE, while generative Bayesian models perform best on natural frequencies.</a:t>
            </a:r>
          </a:p>
        </p:txBody>
      </p:sp>
      <p:pic>
        <p:nvPicPr>
          <p:cNvPr id="4" name="Picture 3" descr="top_spam_keywords.png"/>
          <p:cNvPicPr>
            <a:picLocks noChangeAspect="1"/>
          </p:cNvPicPr>
          <p:nvPr/>
        </p:nvPicPr>
        <p:blipFill>
          <a:blip r:embed="rId2"/>
          <a:stretch>
            <a:fillRect/>
          </a:stretch>
        </p:blipFill>
        <p:spPr>
          <a:xfrm>
            <a:off x="6858000" y="1554480"/>
            <a:ext cx="4663440" cy="1998617"/>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100" b="1">
                <a:solidFill>
                  <a:srgbClr val="2563EB"/>
                </a:solidFill>
              </a:defRPr>
            </a:pPr>
            <a:r>
              <a:t>DCS 404: AI &amp; MACHINE LEARNING | FINAL PROJECT</a:t>
            </a:r>
          </a:p>
          <a:p>
            <a:pPr>
              <a:spcBef>
                <a:spcPts val="400"/>
              </a:spcBef>
              <a:defRPr sz="2500" b="1">
                <a:solidFill>
                  <a:srgbClr val="1E3A8A"/>
                </a:solidFill>
              </a:defRPr>
            </a:pPr>
            <a:r>
              <a:t>Key Learning #3: Transformer Architectures (DistilBERT &amp; RoBERTa)</a:t>
            </a:r>
          </a:p>
        </p:txBody>
      </p:sp>
      <p:sp>
        <p:nvSpPr>
          <p:cNvPr id="3" name="TextBox 2"/>
          <p:cNvSpPr txBox="1"/>
          <p:nvPr/>
        </p:nvSpPr>
        <p:spPr>
          <a:xfrm>
            <a:off x="731520" y="1463040"/>
            <a:ext cx="5943600" cy="4846320"/>
          </a:xfrm>
          <a:prstGeom prst="rect">
            <a:avLst/>
          </a:prstGeom>
          <a:noFill/>
        </p:spPr>
        <p:txBody>
          <a:bodyPr wrap="square">
            <a:spAutoFit/>
          </a:bodyPr>
          <a:lstStyle/>
          <a:p>
            <a:pPr>
              <a:spcBef>
                <a:spcPts val="0"/>
              </a:spcBef>
            </a:pPr>
            <a:r>
              <a:rPr b="1" sz="1300">
                <a:solidFill>
                  <a:srgbClr val="0F172A"/>
                </a:solidFill>
              </a:rPr>
              <a:t>Beyond Bag-of-Words: </a:t>
            </a:r>
            <a:r>
              <a:rPr sz="1300">
                <a:solidFill>
                  <a:srgbClr val="475569"/>
                </a:solidFill>
              </a:rPr>
              <a:t>Traditional TF-IDF ignores syntactic order and semantic nuance. Transformers use multi-head self-attention to capture bidirectional contextual relationships.</a:t>
            </a:r>
          </a:p>
          <a:p>
            <a:pPr>
              <a:spcBef>
                <a:spcPts val="800"/>
              </a:spcBef>
            </a:pPr>
            <a:r>
              <a:rPr b="1" sz="1300">
                <a:solidFill>
                  <a:srgbClr val="0F172A"/>
                </a:solidFill>
              </a:rPr>
              <a:t>DistilBERT Architecture: </a:t>
            </a:r>
            <a:r>
              <a:rPr sz="1300">
                <a:solidFill>
                  <a:srgbClr val="475569"/>
                </a:solidFill>
              </a:rPr>
              <a:t>6-layer distilled transformer retaining 97% of BERT-base capability with 40% fewer parameters (66M) and 60% faster inference speed.</a:t>
            </a:r>
          </a:p>
          <a:p>
            <a:pPr>
              <a:spcBef>
                <a:spcPts val="800"/>
              </a:spcBef>
            </a:pPr>
            <a:r>
              <a:rPr b="1" sz="1300">
                <a:solidFill>
                  <a:srgbClr val="0F172A"/>
                </a:solidFill>
              </a:rPr>
              <a:t>DistilRoBERTa Architecture: </a:t>
            </a:r>
            <a:r>
              <a:rPr sz="1300">
                <a:solidFill>
                  <a:srgbClr val="475569"/>
                </a:solidFill>
              </a:rPr>
              <a:t>Distilled variant of RoBERTa (82M parameters), pre-trained on 160GB of text with byte-pair encoding and dynamic masking for superior semantic subtlety.</a:t>
            </a:r>
          </a:p>
          <a:p>
            <a:pPr>
              <a:spcBef>
                <a:spcPts val="800"/>
              </a:spcBef>
            </a:pPr>
            <a:r>
              <a:rPr b="1" sz="1300">
                <a:solidFill>
                  <a:srgbClr val="0F172A"/>
                </a:solidFill>
              </a:rPr>
              <a:t>Fine-Tuning Methodology: </a:t>
            </a:r>
            <a:r>
              <a:rPr sz="1300">
                <a:solidFill>
                  <a:srgbClr val="475569"/>
                </a:solidFill>
              </a:rPr>
              <a:t>Fine-tuned for binary sequence classification using Hugging Face Transformers and PyTorch with AdamW optimizer, warmup scheduling, and [CLS] pooling.</a:t>
            </a:r>
          </a:p>
          <a:p>
            <a:pPr>
              <a:spcBef>
                <a:spcPts val="800"/>
              </a:spcBef>
            </a:pPr>
            <a:r>
              <a:rPr b="1" sz="1300">
                <a:solidFill>
                  <a:srgbClr val="0F172A"/>
                </a:solidFill>
              </a:rPr>
              <a:t>Colab GPU Training &amp; Export: </a:t>
            </a:r>
            <a:r>
              <a:rPr sz="1300">
                <a:solidFill>
                  <a:srgbClr val="475569"/>
                </a:solidFill>
              </a:rPr>
              <a:t>Reproducibly fine-tuned in Google Colab using free T4 GPU acceleration, exported to safetensors, and loaded for local CPU inference in Streamlit.</a:t>
            </a:r>
          </a:p>
        </p:txBody>
      </p:sp>
      <p:pic>
        <p:nvPicPr>
          <p:cNvPr id="4" name="Picture 3" descr="roc_curves.png"/>
          <p:cNvPicPr>
            <a:picLocks noChangeAspect="1"/>
          </p:cNvPicPr>
          <p:nvPr/>
        </p:nvPicPr>
        <p:blipFill>
          <a:blip r:embed="rId2"/>
          <a:stretch>
            <a:fillRect/>
          </a:stretch>
        </p:blipFill>
        <p:spPr>
          <a:xfrm>
            <a:off x="6858000" y="1554480"/>
            <a:ext cx="4663440" cy="329184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100" b="1">
                <a:solidFill>
                  <a:srgbClr val="2563EB"/>
                </a:solidFill>
              </a:defRPr>
            </a:pPr>
            <a:r>
              <a:t>DCS 404: AI &amp; MACHINE LEARNING | FINAL PROJECT</a:t>
            </a:r>
          </a:p>
          <a:p>
            <a:pPr>
              <a:spcBef>
                <a:spcPts val="400"/>
              </a:spcBef>
              <a:defRPr sz="2500" b="1">
                <a:solidFill>
                  <a:srgbClr val="1E3A8A"/>
                </a:solidFill>
              </a:defRPr>
            </a:pPr>
            <a:r>
              <a:t>Empirical Evaluation: Test Set Benchmark (N = 1,034)</a:t>
            </a:r>
          </a:p>
        </p:txBody>
      </p:sp>
      <p:sp>
        <p:nvSpPr>
          <p:cNvPr id="3" name="TextBox 2"/>
          <p:cNvSpPr txBox="1"/>
          <p:nvPr/>
        </p:nvSpPr>
        <p:spPr>
          <a:xfrm>
            <a:off x="731520" y="1463040"/>
            <a:ext cx="5943600" cy="4846320"/>
          </a:xfrm>
          <a:prstGeom prst="rect">
            <a:avLst/>
          </a:prstGeom>
          <a:noFill/>
        </p:spPr>
        <p:txBody>
          <a:bodyPr wrap="square">
            <a:spAutoFit/>
          </a:bodyPr>
          <a:lstStyle/>
          <a:p>
            <a:pPr>
              <a:spcBef>
                <a:spcPts val="0"/>
              </a:spcBef>
            </a:pPr>
            <a:r>
              <a:rPr b="1" sz="1300">
                <a:solidFill>
                  <a:srgbClr val="0F172A"/>
                </a:solidFill>
              </a:rPr>
              <a:t>Test Split Integrity: </a:t>
            </a:r>
            <a:r>
              <a:rPr sz="1300">
                <a:solidFill>
                  <a:srgbClr val="475569"/>
                </a:solidFill>
              </a:rPr>
              <a:t>All models evaluated on the identical, untouched held-out test split of 1,034 messages (903 Ham, 131 Spam).</a:t>
            </a:r>
          </a:p>
          <a:p>
            <a:pPr>
              <a:spcBef>
                <a:spcPts val="800"/>
              </a:spcBef>
            </a:pPr>
            <a:r>
              <a:rPr b="1" sz="1300">
                <a:solidFill>
                  <a:srgbClr val="0F172A"/>
                </a:solidFill>
              </a:rPr>
              <a:t>DistilBERT (Top Overall): </a:t>
            </a:r>
            <a:r>
              <a:rPr sz="1300">
                <a:solidFill>
                  <a:srgbClr val="475569"/>
                </a:solidFill>
              </a:rPr>
              <a:t>98.84% Accuracy | 95.42% Precision | 95.42% Recall | 95.42% F1 | 0.9975 ROC-AUC | 6 FP, 6 FN</a:t>
            </a:r>
          </a:p>
          <a:p>
            <a:pPr>
              <a:spcBef>
                <a:spcPts val="800"/>
              </a:spcBef>
            </a:pPr>
            <a:r>
              <a:rPr b="1" sz="1300">
                <a:solidFill>
                  <a:srgbClr val="0F172A"/>
                </a:solidFill>
              </a:rPr>
              <a:t>DistilRoBERTa (Top Precision): </a:t>
            </a:r>
            <a:r>
              <a:rPr sz="1300">
                <a:solidFill>
                  <a:srgbClr val="475569"/>
                </a:solidFill>
              </a:rPr>
              <a:t>98.84% Accuracy | 97.60% Precision | 93.13% Recall | 95.31% F1 | 0.9993 ROC-AUC | 3 FP, 9 FN</a:t>
            </a:r>
          </a:p>
          <a:p>
            <a:pPr>
              <a:spcBef>
                <a:spcPts val="800"/>
              </a:spcBef>
            </a:pPr>
            <a:r>
              <a:rPr b="1" sz="1300">
                <a:solidFill>
                  <a:srgbClr val="0F172A"/>
                </a:solidFill>
              </a:rPr>
              <a:t>Multinomial Naive Bayes: </a:t>
            </a:r>
            <a:r>
              <a:rPr sz="1300">
                <a:solidFill>
                  <a:srgbClr val="475569"/>
                </a:solidFill>
              </a:rPr>
              <a:t>98.07% Accuracy | 98.26% Precision | 86.26% Recall | 91.87% F1 | 0.9897 ROC-AUC | 2 FP, 18 FN</a:t>
            </a:r>
          </a:p>
          <a:p>
            <a:pPr>
              <a:spcBef>
                <a:spcPts val="800"/>
              </a:spcBef>
            </a:pPr>
            <a:r>
              <a:rPr b="1" sz="1300">
                <a:solidFill>
                  <a:srgbClr val="0F172A"/>
                </a:solidFill>
              </a:rPr>
              <a:t>Logistic Regression (SMOTE): </a:t>
            </a:r>
            <a:r>
              <a:rPr sz="1300">
                <a:solidFill>
                  <a:srgbClr val="475569"/>
                </a:solidFill>
              </a:rPr>
              <a:t>97.29% Accuracy | 88.72% Precision | 90.08% Recall | 89.39% F1 | 0.9903 ROC-AUC | 15 FP, 13 FN</a:t>
            </a:r>
          </a:p>
          <a:p>
            <a:pPr>
              <a:spcBef>
                <a:spcPts val="800"/>
              </a:spcBef>
            </a:pPr>
            <a:r>
              <a:rPr b="1" sz="1300">
                <a:solidFill>
                  <a:srgbClr val="0F172A"/>
                </a:solidFill>
              </a:rPr>
              <a:t>Key Benchmark Takeaway: </a:t>
            </a:r>
            <a:r>
              <a:rPr sz="1300">
                <a:solidFill>
                  <a:srgbClr val="475569"/>
                </a:solidFill>
              </a:rPr>
              <a:t>Transformers deliver the highest balanced detection (F1 &gt; 95.3%). However, traditional models achieve &gt;97% accuracy with negligible latency.</a:t>
            </a:r>
          </a:p>
        </p:txBody>
      </p:sp>
      <p:pic>
        <p:nvPicPr>
          <p:cNvPr id="4" name="Picture 3" descr="model_comparison.png"/>
          <p:cNvPicPr>
            <a:picLocks noChangeAspect="1"/>
          </p:cNvPicPr>
          <p:nvPr/>
        </p:nvPicPr>
        <p:blipFill>
          <a:blip r:embed="rId2"/>
          <a:stretch>
            <a:fillRect/>
          </a:stretch>
        </p:blipFill>
        <p:spPr>
          <a:xfrm>
            <a:off x="6858000" y="1554480"/>
            <a:ext cx="4663440" cy="2543695"/>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100" b="1">
                <a:solidFill>
                  <a:srgbClr val="2563EB"/>
                </a:solidFill>
              </a:defRPr>
            </a:pPr>
            <a:r>
              <a:t>DCS 404: AI &amp; MACHINE LEARNING | FINAL PROJECT</a:t>
            </a:r>
          </a:p>
          <a:p>
            <a:pPr>
              <a:spcBef>
                <a:spcPts val="400"/>
              </a:spcBef>
              <a:defRPr sz="2500" b="1">
                <a:solidFill>
                  <a:srgbClr val="1E3A8A"/>
                </a:solidFill>
              </a:defRPr>
            </a:pPr>
            <a:r>
              <a:t>Architectural Trade-Off Analysis: Traditional ML vs. Transformers</a:t>
            </a:r>
          </a:p>
        </p:txBody>
      </p:sp>
      <p:sp>
        <p:nvSpPr>
          <p:cNvPr id="3" name="TextBox 2"/>
          <p:cNvSpPr txBox="1"/>
          <p:nvPr/>
        </p:nvSpPr>
        <p:spPr>
          <a:xfrm>
            <a:off x="731520" y="1463040"/>
            <a:ext cx="10698480" cy="4846320"/>
          </a:xfrm>
          <a:prstGeom prst="rect">
            <a:avLst/>
          </a:prstGeom>
          <a:noFill/>
        </p:spPr>
        <p:txBody>
          <a:bodyPr wrap="square">
            <a:spAutoFit/>
          </a:bodyPr>
          <a:lstStyle/>
          <a:p>
            <a:pPr>
              <a:spcBef>
                <a:spcPts val="0"/>
              </a:spcBef>
            </a:pPr>
            <a:r>
              <a:rPr b="1" sz="1300">
                <a:solidFill>
                  <a:srgbClr val="0F172A"/>
                </a:solidFill>
              </a:rPr>
              <a:t>Performance &amp; Accuracy: </a:t>
            </a:r>
            <a:r>
              <a:rPr sz="1300">
                <a:solidFill>
                  <a:srgbClr val="475569"/>
                </a:solidFill>
              </a:rPr>
              <a:t>Transformers outperform traditional ML on F1-score (+3.5% to +6.0%) and ROC-AUC (0.999 vs 0.990) by deciphering conversational nuance, typos, and disguised links.</a:t>
            </a:r>
          </a:p>
          <a:p>
            <a:pPr>
              <a:spcBef>
                <a:spcPts val="1000"/>
              </a:spcBef>
            </a:pPr>
            <a:r>
              <a:rPr b="1" sz="1300">
                <a:solidFill>
                  <a:srgbClr val="0F172A"/>
                </a:solidFill>
              </a:rPr>
              <a:t>Training Speed Disparity: </a:t>
            </a:r>
            <a:r>
              <a:rPr sz="1300">
                <a:solidFill>
                  <a:srgbClr val="475569"/>
                </a:solidFill>
              </a:rPr>
              <a:t>Traditional ML trains in 0.01 to 0.05 seconds. Transformers require ~45 minutes on GPU or multiple hours on CPU (~50,000x difference).</a:t>
            </a:r>
          </a:p>
          <a:p>
            <a:pPr>
              <a:spcBef>
                <a:spcPts val="1000"/>
              </a:spcBef>
            </a:pPr>
            <a:r>
              <a:rPr b="1" sz="1300">
                <a:solidFill>
                  <a:srgbClr val="0F172A"/>
                </a:solidFill>
              </a:rPr>
              <a:t>Inference Latency &amp; Throughput: </a:t>
            </a:r>
            <a:r>
              <a:rPr sz="1300">
                <a:solidFill>
                  <a:srgbClr val="475569"/>
                </a:solidFill>
              </a:rPr>
              <a:t>Traditional ML predicts in 0.0008 ms per message (~1.25 million msg/sec throughput). Transformers require ~70 ms per message (~14 msg/sec on CPU) — a 90,000x latency advantage for ML.</a:t>
            </a:r>
          </a:p>
          <a:p>
            <a:pPr>
              <a:spcBef>
                <a:spcPts val="1000"/>
              </a:spcBef>
            </a:pPr>
            <a:r>
              <a:rPr b="1" sz="1300">
                <a:solidFill>
                  <a:srgbClr val="0F172A"/>
                </a:solidFill>
              </a:rPr>
              <a:t>Hardware &amp; Compute Footprint: </a:t>
            </a:r>
            <a:r>
              <a:rPr sz="1300">
                <a:solidFill>
                  <a:srgbClr val="475569"/>
                </a:solidFill>
              </a:rPr>
              <a:t>Traditional models require &lt;10 MB RAM and run on microcontrollers. Transformers require 260 MB disk storage, PyTorch runtimes, and hundreds of megabytes of RAM.</a:t>
            </a:r>
          </a:p>
          <a:p>
            <a:pPr>
              <a:spcBef>
                <a:spcPts val="1000"/>
              </a:spcBef>
            </a:pPr>
            <a:r>
              <a:rPr b="1" sz="1300">
                <a:solidFill>
                  <a:srgbClr val="0F172A"/>
                </a:solidFill>
              </a:rPr>
              <a:t>Operational Decision Framework: </a:t>
            </a:r>
            <a:r>
              <a:rPr sz="1300">
                <a:solidFill>
                  <a:srgbClr val="475569"/>
                </a:solidFill>
              </a:rPr>
              <a:t>High-volume telecom SMS gateways should deploy Naive Bayes or Logistic Regression for real-time edge filtering, while high-value fraud detection and forensic auditing benefit from Transformers.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1100" b="1">
                <a:solidFill>
                  <a:srgbClr val="2563EB"/>
                </a:solidFill>
              </a:defRPr>
            </a:pPr>
            <a:r>
              <a:t>DCS 404: AI &amp; MACHINE LEARNING | FINAL PROJECT</a:t>
            </a:r>
          </a:p>
          <a:p>
            <a:pPr>
              <a:spcBef>
                <a:spcPts val="400"/>
              </a:spcBef>
              <a:defRPr sz="2500" b="1">
                <a:solidFill>
                  <a:srgbClr val="1E3A8A"/>
                </a:solidFill>
              </a:defRPr>
            </a:pPr>
            <a:r>
              <a:t>Interactive Streamlit Dashboard &amp; Live Inferences</a:t>
            </a:r>
          </a:p>
        </p:txBody>
      </p:sp>
      <p:sp>
        <p:nvSpPr>
          <p:cNvPr id="3" name="TextBox 2"/>
          <p:cNvSpPr txBox="1"/>
          <p:nvPr/>
        </p:nvSpPr>
        <p:spPr>
          <a:xfrm>
            <a:off x="731520" y="1463040"/>
            <a:ext cx="5852160" cy="4846320"/>
          </a:xfrm>
          <a:prstGeom prst="rect">
            <a:avLst/>
          </a:prstGeom>
          <a:noFill/>
        </p:spPr>
        <p:txBody>
          <a:bodyPr wrap="square">
            <a:spAutoFit/>
          </a:bodyPr>
          <a:lstStyle/>
          <a:p>
            <a:pPr>
              <a:spcBef>
                <a:spcPts val="0"/>
              </a:spcBef>
            </a:pPr>
            <a:r>
              <a:rPr b="1" sz="1300">
                <a:solidFill>
                  <a:srgbClr val="0F172A"/>
                </a:solidFill>
              </a:rPr>
              <a:t>7-Section Streamlit Architecture: </a:t>
            </a:r>
            <a:r>
              <a:rPr sz="1300">
                <a:solidFill>
                  <a:srgbClr val="475569"/>
                </a:solidFill>
              </a:rPr>
              <a:t>1. Home  2. Dataset Overview  3. Data Exploration  4. Word Clouds  5. Model Performance  6. Model Comparison  7. Live Spam Prediction.</a:t>
            </a:r>
          </a:p>
          <a:p>
            <a:pPr>
              <a:spcBef>
                <a:spcPts val="800"/>
              </a:spcBef>
            </a:pPr>
            <a:r>
              <a:rPr b="1" sz="1300">
                <a:solidFill>
                  <a:srgbClr val="0F172A"/>
                </a:solidFill>
              </a:rPr>
              <a:t>Live Inference Engine: </a:t>
            </a:r>
            <a:r>
              <a:rPr sz="1300">
                <a:solidFill>
                  <a:srgbClr val="475569"/>
                </a:solidFill>
              </a:rPr>
              <a:t>Allows interactive testing across all 4 models with real-time confidence scoring and classification badges (SPAM vs. HAM).</a:t>
            </a:r>
          </a:p>
          <a:p>
            <a:pPr>
              <a:spcBef>
                <a:spcPts val="800"/>
              </a:spcBef>
            </a:pPr>
            <a:r>
              <a:rPr b="1" sz="1300">
                <a:solidFill>
                  <a:srgbClr val="0F172A"/>
                </a:solidFill>
              </a:rPr>
              <a:t>Test Sample 1 (Spam): </a:t>
            </a:r>
            <a:r>
              <a:rPr sz="1300">
                <a:solidFill>
                  <a:srgbClr val="475569"/>
                </a:solidFill>
              </a:rPr>
              <a:t>'URGENT! You won £1,000 cash. Reply WIN to claim.' -&gt; Predicted: SPAM (99.9% Confidence).</a:t>
            </a:r>
          </a:p>
          <a:p>
            <a:pPr>
              <a:spcBef>
                <a:spcPts val="800"/>
              </a:spcBef>
            </a:pPr>
            <a:r>
              <a:rPr b="1" sz="1300">
                <a:solidFill>
                  <a:srgbClr val="0F172A"/>
                </a:solidFill>
              </a:rPr>
              <a:t>Test Sample 2 (Ham): </a:t>
            </a:r>
            <a:r>
              <a:rPr sz="1300">
                <a:solidFill>
                  <a:srgbClr val="475569"/>
                </a:solidFill>
              </a:rPr>
              <a:t>'Hi Sujal, are we still meeting in conference room B at 3:30 PM?' -&gt; Predicted: HAM (99.8% Confidence).</a:t>
            </a:r>
          </a:p>
          <a:p>
            <a:pPr>
              <a:spcBef>
                <a:spcPts val="800"/>
              </a:spcBef>
            </a:pPr>
            <a:r>
              <a:rPr b="1" sz="1300">
                <a:solidFill>
                  <a:srgbClr val="0F172A"/>
                </a:solidFill>
              </a:rPr>
              <a:t>Test Sample 3 (Disguised Spam): </a:t>
            </a:r>
            <a:r>
              <a:rPr sz="1300">
                <a:solidFill>
                  <a:srgbClr val="475569"/>
                </a:solidFill>
              </a:rPr>
              <a:t>'Free entry into the weekly £100 prize draw. Text WON to 85060' -&gt; Predicted: SPAM (99.7% Confidence).</a:t>
            </a:r>
          </a:p>
          <a:p>
            <a:pPr>
              <a:spcBef>
                <a:spcPts val="800"/>
              </a:spcBef>
            </a:pPr>
            <a:r>
              <a:rPr b="1" sz="1300">
                <a:solidFill>
                  <a:srgbClr val="0F172A"/>
                </a:solidFill>
              </a:rPr>
              <a:t>Ethical &amp; Privacy Assurance: </a:t>
            </a:r>
            <a:r>
              <a:rPr sz="1300">
                <a:solidFill>
                  <a:srgbClr val="475569"/>
                </a:solidFill>
              </a:rPr>
              <a:t>Zero persistent message logging, ephemeral memory inference, and bias auditing to protect user confidentiality.</a:t>
            </a:r>
          </a:p>
        </p:txBody>
      </p:sp>
      <p:pic>
        <p:nvPicPr>
          <p:cNvPr id="4" name="Picture 3" descr="confusion_matrices.png"/>
          <p:cNvPicPr>
            <a:picLocks noChangeAspect="1"/>
          </p:cNvPicPr>
          <p:nvPr/>
        </p:nvPicPr>
        <p:blipFill>
          <a:blip r:embed="rId2"/>
          <a:stretch>
            <a:fillRect/>
          </a:stretch>
        </p:blipFill>
        <p:spPr>
          <a:xfrm>
            <a:off x="6766560" y="1645920"/>
            <a:ext cx="4754880" cy="39624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